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DAD255-B5DC-43DA-B12B-517F6500D1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68185F-EAF3-492D-9CE3-57DFC6E930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279F3E-C6F1-4E86-97C3-0B97BB24FB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16707C3-BC8C-4CD1-A7C4-459D38EC0F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B864722-42DE-4E7D-BF31-2862E20DE7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6EE2D01-58A0-43F0-91AA-330E438D7F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B116797-DDBB-4961-AAC2-EF60C0F410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5C0F31C-3058-46A3-A818-EB6FAE4345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10BB114-90E4-4AFE-8B37-C166B6712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80AB276-7ADD-4224-8508-26FCF9A02E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72895A4-94EF-4D5B-870D-ADD3FA85A4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B63297-333B-473F-A0E4-C8069EC6FD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2BB9CA-4D03-44FB-BD37-ACCAD184B4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448809-6BA5-4362-8012-6B04F63124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2B6C3C-7AC9-42DF-B329-DD1B957AF9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E48038-B425-41AC-BC2C-8326F55490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478EF6-9727-4019-981C-966D0E3E15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3595DD-E7A5-4674-9F52-C85606B63B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2A28AC-DA47-4ADA-9644-42E980BACD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387D66-9663-468B-8EE7-8E9A4C6F3F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6EF7B0-16BC-4A95-9289-F833494493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0A97DF-D962-44C0-8CAB-D6AEB6531C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TechCorp IAM Platform Implementation Plan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Identity and Access Management Strategy Roadmap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Objectives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Strengthen cybersecurity through centralized identity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 user lifecycle management and access control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Enable secure integration with enterprise and cloud systems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Support TechCorp’s digital transformation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IAM Implementation Roadmap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1: Assessment and Planning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2: IAM Architecture and Design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3: Platform Integration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4: Security Testing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5: Deployment and Training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6: Monitoring and Optimization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Integration Challenges and Solutions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Legacy system compatibility challenges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Third‑party application authentication issues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Cloud identity federation complexities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 APIs, connectors, and identity federation to integrate systems securely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Security Controls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Role‑Based Access Control (RBAC)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Least Privilege Access Policy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Multi‑Factor Authentication (MFA)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Continuous monitoring and user activity auditing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Alignment with Business Goals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Protect TechCorp digital assets and sensitive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 operational efficiency through automation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Enhance user experience through secure access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Support global operations and scalability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IAM Architecture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457200" y="1828800"/>
            <a:ext cx="22852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Users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(Employees, Partners, Customers)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3"/>
          <p:cNvSpPr/>
          <p:nvPr/>
        </p:nvSpPr>
        <p:spPr>
          <a:xfrm>
            <a:off x="3429000" y="1600200"/>
            <a:ext cx="2513880" cy="14202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IAM Platform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Authentication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Authorization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Identity Management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4"/>
          <p:cNvSpPr/>
          <p:nvPr/>
        </p:nvSpPr>
        <p:spPr>
          <a:xfrm>
            <a:off x="6400800" y="1600200"/>
            <a:ext cx="2285280" cy="13716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Enterprise Applications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HR Systems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Finance Systems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Internal Tools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3200400" y="3657600"/>
            <a:ext cx="27424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Cloud &amp; Third‑Party Apps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SaaS Platforms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External Services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-line"/>
          <p:cNvSpPr/>
          <p:nvPr/>
        </p:nvSpPr>
        <p:spPr>
          <a:xfrm>
            <a:off x="5708880" y="2114280"/>
            <a:ext cx="720000" cy="180360"/>
          </a:xfrm>
          <a:custGeom>
            <a:avLst/>
            <a:gdLst/>
            <a:ahLst/>
            <a:rect l="0" t="0" r="r" b="b"/>
            <a:pathLst>
              <a:path fill="none" w="2000" h="501">
                <a:moveTo>
                  <a:pt x="0" y="1"/>
                </a:moveTo>
                <a:cubicBezTo>
                  <a:pt x="417" y="1"/>
                  <a:pt x="692" y="-1"/>
                  <a:pt x="750" y="0"/>
                </a:cubicBezTo>
                <a:cubicBezTo>
                  <a:pt x="808" y="1"/>
                  <a:pt x="849" y="14"/>
                  <a:pt x="884" y="34"/>
                </a:cubicBezTo>
                <a:cubicBezTo>
                  <a:pt x="922" y="56"/>
                  <a:pt x="954" y="88"/>
                  <a:pt x="976" y="126"/>
                </a:cubicBezTo>
                <a:cubicBezTo>
                  <a:pt x="998" y="164"/>
                  <a:pt x="1009" y="229"/>
                  <a:pt x="1009" y="251"/>
                </a:cubicBezTo>
                <a:cubicBezTo>
                  <a:pt x="1009" y="273"/>
                  <a:pt x="1020" y="338"/>
                  <a:pt x="1042" y="376"/>
                </a:cubicBezTo>
                <a:cubicBezTo>
                  <a:pt x="1064" y="414"/>
                  <a:pt x="1096" y="446"/>
                  <a:pt x="1134" y="468"/>
                </a:cubicBezTo>
                <a:cubicBezTo>
                  <a:pt x="1169" y="488"/>
                  <a:pt x="1209" y="499"/>
                  <a:pt x="1250" y="501"/>
                </a:cubicBezTo>
                <a:lnTo>
                  <a:pt x="2000" y="501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68" name="s-line 1"/>
          <p:cNvSpPr/>
          <p:nvPr/>
        </p:nvSpPr>
        <p:spPr>
          <a:xfrm>
            <a:off x="2709000" y="2105640"/>
            <a:ext cx="720000" cy="180360"/>
          </a:xfrm>
          <a:custGeom>
            <a:avLst/>
            <a:gdLst/>
            <a:ahLst/>
            <a:rect l="0" t="0" r="r" b="b"/>
            <a:pathLst>
              <a:path fill="none" w="2000" h="501">
                <a:moveTo>
                  <a:pt x="0" y="1"/>
                </a:moveTo>
                <a:cubicBezTo>
                  <a:pt x="417" y="1"/>
                  <a:pt x="692" y="-1"/>
                  <a:pt x="750" y="0"/>
                </a:cubicBezTo>
                <a:cubicBezTo>
                  <a:pt x="808" y="1"/>
                  <a:pt x="849" y="14"/>
                  <a:pt x="884" y="34"/>
                </a:cubicBezTo>
                <a:cubicBezTo>
                  <a:pt x="922" y="56"/>
                  <a:pt x="954" y="88"/>
                  <a:pt x="976" y="126"/>
                </a:cubicBezTo>
                <a:cubicBezTo>
                  <a:pt x="998" y="164"/>
                  <a:pt x="1009" y="229"/>
                  <a:pt x="1009" y="251"/>
                </a:cubicBezTo>
                <a:cubicBezTo>
                  <a:pt x="1009" y="273"/>
                  <a:pt x="1020" y="338"/>
                  <a:pt x="1042" y="376"/>
                </a:cubicBezTo>
                <a:cubicBezTo>
                  <a:pt x="1064" y="414"/>
                  <a:pt x="1096" y="446"/>
                  <a:pt x="1134" y="468"/>
                </a:cubicBezTo>
                <a:cubicBezTo>
                  <a:pt x="1169" y="488"/>
                  <a:pt x="1209" y="499"/>
                  <a:pt x="1250" y="501"/>
                </a:cubicBezTo>
                <a:lnTo>
                  <a:pt x="2000" y="501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SSO and MFA Authentication Flow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529200" y="1828800"/>
            <a:ext cx="22852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1. User Login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(User enters credentials)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3142080" y="1828800"/>
            <a:ext cx="22852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2. IAM Authentication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Identity verification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5826960" y="1828800"/>
            <a:ext cx="22852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3. MFA Verification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OTP / Authenticator App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3132360" y="3429000"/>
            <a:ext cx="2285280" cy="91368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4. Access Granted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Single Sign‑On to Applications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-line 2"/>
          <p:cNvSpPr/>
          <p:nvPr/>
        </p:nvSpPr>
        <p:spPr>
          <a:xfrm>
            <a:off x="2561040" y="2205000"/>
            <a:ext cx="720000" cy="180360"/>
          </a:xfrm>
          <a:custGeom>
            <a:avLst/>
            <a:gdLst/>
            <a:ahLst/>
            <a:rect l="0" t="0" r="r" b="b"/>
            <a:pathLst>
              <a:path fill="none" w="2000" h="501">
                <a:moveTo>
                  <a:pt x="0" y="1"/>
                </a:moveTo>
                <a:cubicBezTo>
                  <a:pt x="417" y="1"/>
                  <a:pt x="692" y="-1"/>
                  <a:pt x="750" y="0"/>
                </a:cubicBezTo>
                <a:cubicBezTo>
                  <a:pt x="808" y="1"/>
                  <a:pt x="849" y="14"/>
                  <a:pt x="884" y="34"/>
                </a:cubicBezTo>
                <a:cubicBezTo>
                  <a:pt x="922" y="56"/>
                  <a:pt x="954" y="88"/>
                  <a:pt x="976" y="126"/>
                </a:cubicBezTo>
                <a:cubicBezTo>
                  <a:pt x="998" y="164"/>
                  <a:pt x="1009" y="229"/>
                  <a:pt x="1009" y="251"/>
                </a:cubicBezTo>
                <a:cubicBezTo>
                  <a:pt x="1009" y="273"/>
                  <a:pt x="1020" y="338"/>
                  <a:pt x="1042" y="376"/>
                </a:cubicBezTo>
                <a:cubicBezTo>
                  <a:pt x="1064" y="414"/>
                  <a:pt x="1096" y="446"/>
                  <a:pt x="1134" y="468"/>
                </a:cubicBezTo>
                <a:cubicBezTo>
                  <a:pt x="1169" y="488"/>
                  <a:pt x="1209" y="499"/>
                  <a:pt x="1250" y="501"/>
                </a:cubicBezTo>
                <a:lnTo>
                  <a:pt x="2000" y="501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75" name="s-line 3"/>
          <p:cNvSpPr/>
          <p:nvPr/>
        </p:nvSpPr>
        <p:spPr>
          <a:xfrm>
            <a:off x="5318640" y="2286720"/>
            <a:ext cx="720000" cy="180360"/>
          </a:xfrm>
          <a:custGeom>
            <a:avLst/>
            <a:gdLst/>
            <a:ahLst/>
            <a:rect l="0" t="0" r="r" b="b"/>
            <a:pathLst>
              <a:path fill="none" w="2000" h="501">
                <a:moveTo>
                  <a:pt x="0" y="1"/>
                </a:moveTo>
                <a:cubicBezTo>
                  <a:pt x="417" y="1"/>
                  <a:pt x="692" y="-1"/>
                  <a:pt x="750" y="0"/>
                </a:cubicBezTo>
                <a:cubicBezTo>
                  <a:pt x="808" y="1"/>
                  <a:pt x="849" y="14"/>
                  <a:pt x="884" y="34"/>
                </a:cubicBezTo>
                <a:cubicBezTo>
                  <a:pt x="922" y="56"/>
                  <a:pt x="954" y="88"/>
                  <a:pt x="976" y="126"/>
                </a:cubicBezTo>
                <a:cubicBezTo>
                  <a:pt x="998" y="164"/>
                  <a:pt x="1009" y="229"/>
                  <a:pt x="1009" y="251"/>
                </a:cubicBezTo>
                <a:cubicBezTo>
                  <a:pt x="1009" y="273"/>
                  <a:pt x="1020" y="338"/>
                  <a:pt x="1042" y="376"/>
                </a:cubicBezTo>
                <a:cubicBezTo>
                  <a:pt x="1064" y="414"/>
                  <a:pt x="1096" y="446"/>
                  <a:pt x="1134" y="468"/>
                </a:cubicBezTo>
                <a:cubicBezTo>
                  <a:pt x="1169" y="488"/>
                  <a:pt x="1209" y="499"/>
                  <a:pt x="1250" y="501"/>
                </a:cubicBezTo>
                <a:lnTo>
                  <a:pt x="2000" y="501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2026-03-15T19:28:35Z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